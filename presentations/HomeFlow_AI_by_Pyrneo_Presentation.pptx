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FLOW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9E66F"/>
          </a:solidFill>
          <a:ln w="12700">
            <a:solidFill>
              <a:srgbClr val="59E6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AI by PYRNEO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37960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stalled projects to completed homes.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097280"/>
            <a:ext cx="54864" cy="54864"/>
          </a:xfrm>
          <a:prstGeom prst="ellipse">
            <a:avLst/>
          </a:prstGeom>
          <a:solidFill>
            <a:srgbClr val="42A5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1097280"/>
            <a:ext cx="54864" cy="54864"/>
          </a:xfrm>
          <a:prstGeom prst="ellipse">
            <a:avLst/>
          </a:prstGeom>
          <a:solidFill>
            <a:srgbClr val="FF566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109728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103120"/>
            <a:ext cx="54864" cy="54864"/>
          </a:xfrm>
          <a:prstGeom prst="ellipse">
            <a:avLst/>
          </a:prstGeom>
          <a:solidFill>
            <a:srgbClr val="42A5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2103120"/>
            <a:ext cx="54864" cy="54864"/>
          </a:xfrm>
          <a:prstGeom prst="ellipse">
            <a:avLst/>
          </a:prstGeom>
          <a:solidFill>
            <a:srgbClr val="FF566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210312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8440" y="2103120"/>
            <a:ext cx="54864" cy="54864"/>
          </a:xfrm>
          <a:prstGeom prst="ellipse">
            <a:avLst/>
          </a:prstGeom>
          <a:solidFill>
            <a:srgbClr val="42A5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108960"/>
            <a:ext cx="54864" cy="54864"/>
          </a:xfrm>
          <a:prstGeom prst="ellipse">
            <a:avLst/>
          </a:prstGeom>
          <a:solidFill>
            <a:srgbClr val="FF566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310896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3108960"/>
            <a:ext cx="54864" cy="54864"/>
          </a:xfrm>
          <a:prstGeom prst="ellipse">
            <a:avLst/>
          </a:prstGeom>
          <a:solidFill>
            <a:srgbClr val="42A5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78440" y="3108960"/>
            <a:ext cx="54864" cy="54864"/>
          </a:xfrm>
          <a:prstGeom prst="ellipse">
            <a:avLst/>
          </a:prstGeom>
          <a:solidFill>
            <a:srgbClr val="FF566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411480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114800"/>
            <a:ext cx="54864" cy="54864"/>
          </a:xfrm>
          <a:prstGeom prst="ellipse">
            <a:avLst/>
          </a:prstGeom>
          <a:solidFill>
            <a:srgbClr val="42A5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4114800"/>
            <a:ext cx="54864" cy="54864"/>
          </a:xfrm>
          <a:prstGeom prst="ellipse">
            <a:avLst/>
          </a:prstGeom>
          <a:solidFill>
            <a:srgbClr val="FF566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4114800"/>
            <a:ext cx="54864" cy="54864"/>
          </a:xfrm>
          <a:prstGeom prst="ellipse">
            <a:avLst/>
          </a:prstGeom>
          <a:solidFill>
            <a:srgbClr val="59E66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029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F6FB"/>
                </a:solidFill>
              </a:rPr>
              <a:t>PYRNEO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" y="886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3A2B6"/>
                </a:solidFill>
              </a:rPr>
              <a:t>PEOPLE   SOLUTIONS   PROGRESS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1792" y="18745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HomeFlow AI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58368" y="26974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4E3"/>
                </a:solidFill>
              </a:rPr>
              <a:t>AI-powered delivery assurance for Human Settlements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" y="3273552"/>
            <a:ext cx="1051560" cy="0"/>
          </a:xfrm>
          <a:prstGeom prst="line">
            <a:avLst/>
          </a:prstGeom>
          <a:noFill/>
          <a:ln w="50800">
            <a:solidFill>
              <a:srgbClr val="59E6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09928" y="3273552"/>
            <a:ext cx="594360" cy="0"/>
          </a:xfrm>
          <a:prstGeom prst="line">
            <a:avLst/>
          </a:prstGeom>
          <a:noFill/>
          <a:ln w="50800">
            <a:solidFill>
              <a:srgbClr val="42A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4288" y="3273552"/>
            <a:ext cx="457200" cy="0"/>
          </a:xfrm>
          <a:prstGeom prst="line">
            <a:avLst/>
          </a:prstGeom>
          <a:noFill/>
          <a:ln w="50800">
            <a:solidFill>
              <a:srgbClr val="FF56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295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B"/>
                </a:solidFill>
              </a:rPr>
              <a:t>From stalled projects to completed homes.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3A2B6"/>
                </a:solidFill>
              </a:rPr>
              <a:t>SITA GovTech SMME Innovation Challenge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600200"/>
            <a:ext cx="4526280" cy="987552"/>
          </a:xfrm>
          <a:prstGeom prst="roundRect">
            <a:avLst>
              <a:gd name="adj" fmla="val 7407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68312" y="176479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764792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MONITOR PROGRESS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04888" y="2313432"/>
            <a:ext cx="4123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Bring portfolio, budget, milestone and site evidence into one delivery view.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2743200"/>
            <a:ext cx="4526280" cy="987552"/>
          </a:xfrm>
          <a:prstGeom prst="roundRect">
            <a:avLst>
              <a:gd name="adj" fmla="val 7407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68312" y="290779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2907792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ANTICIPATE RISK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04888" y="3456432"/>
            <a:ext cx="4123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Detect deteriorating delivery patterns before they become executive crises.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3886200"/>
            <a:ext cx="4526280" cy="987552"/>
          </a:xfrm>
          <a:prstGeom prst="roundRect">
            <a:avLst>
              <a:gd name="adj" fmla="val 7407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68312" y="4050792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4050792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ORCHESTRATE RECOVERY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04888" y="4599432"/>
            <a:ext cx="4123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Turn insight into owned actions, deadlines, escalation and evidence.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" y="50749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C121A"/>
          </a:solidFill>
          <a:ln w="12700">
            <a:solidFill>
              <a:srgbClr val="59E6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14807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E66F"/>
                </a:solidFill>
              </a:rPr>
              <a:t>Project visibility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31720" y="50749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C121A"/>
          </a:solidFill>
          <a:ln w="12700">
            <a:solidFill>
              <a:srgbClr val="42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04872" y="514807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A5FF"/>
                </a:solidFill>
              </a:rPr>
              <a:t>Early risk detection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96512" y="50749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0C121A"/>
          </a:solidFill>
          <a:ln w="12700">
            <a:solidFill>
              <a:srgbClr val="FF56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9664" y="514807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664"/>
                </a:solidFill>
              </a:rPr>
              <a:t>Recovery orchestration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8368" y="5989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HomeFlow AI by Pyrneo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Housing delivery problems are often discovered too late.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20240"/>
            <a:ext cx="2075688" cy="2514600"/>
          </a:xfrm>
          <a:prstGeom prst="roundRect">
            <a:avLst>
              <a:gd name="adj" fmla="val 3524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8483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0848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Fragmented project visibility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2633472"/>
            <a:ext cx="16733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Programme teams work across disconnected reports, spreadsheets and systems.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920240"/>
            <a:ext cx="2075688" cy="2514600"/>
          </a:xfrm>
          <a:prstGeom prst="roundRect">
            <a:avLst>
              <a:gd name="adj" fmla="val 3524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08483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0848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Disconnected cost, schedule &amp; 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2633472"/>
            <a:ext cx="16733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Financial expenditure and verified physical delivery are difficult to reconcile quickly.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02352" y="1920240"/>
            <a:ext cx="2075688" cy="2514600"/>
          </a:xfrm>
          <a:prstGeom prst="roundRect">
            <a:avLst>
              <a:gd name="adj" fmla="val 3524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2084832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20848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Late detection of delivery 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633472"/>
            <a:ext cx="16733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Schedule slippage and contractor deterioration can escalate before executive intervention.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70064" y="1920240"/>
            <a:ext cx="2075688" cy="2514600"/>
          </a:xfrm>
          <a:prstGeom prst="roundRect">
            <a:avLst>
              <a:gd name="adj" fmla="val 3524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208483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0144" y="20848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Weak verification of site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71232" y="2633472"/>
            <a:ext cx="16733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Reported progress may not be supported by current, structured and reviewable evidence.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37776" y="1920240"/>
            <a:ext cx="2075688" cy="2514600"/>
          </a:xfrm>
          <a:prstGeom prst="roundRect">
            <a:avLst>
              <a:gd name="adj" fmla="val 3524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208483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77856" y="20848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Limited accountability &amp; escalation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38944" y="2633472"/>
            <a:ext cx="16733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Actions, decisions and blockers can become fragmented across meetings and emails.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4800600"/>
            <a:ext cx="11045952" cy="758952"/>
          </a:xfrm>
          <a:prstGeom prst="roundRect">
            <a:avLst/>
          </a:prstGeom>
          <a:solidFill>
            <a:srgbClr val="171116"/>
          </a:solidFill>
          <a:ln w="15240">
            <a:solidFill>
              <a:srgbClr val="4C20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0566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664"/>
                </a:solidFill>
              </a:rPr>
              <a:t>RESULT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27632" y="4983480"/>
            <a:ext cx="891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Delayed homes  •  budget leakage  •  stalled projects  •  reduced public value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A Human Settlements delivery control tower powered by responsible AI.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0848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AI Project Health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26334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See which projects need attention first, with transparent drivers and confidence.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08483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848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Early Warning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26334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Detect budget, schedule, milestone, evidence and contractor risk patterns.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9872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084832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20848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Recovery Workflows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6334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Assign actions, owners, due dates, dependencies and escalation paths.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7490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1363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9136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Site Evidence Capture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4622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Link photos, inspections, documents and progress updates to delivery milestones.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391363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136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Executive Dashboards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44622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Move from national or provincial portfolio health to project-level evidence.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9872" y="37490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3913632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9952" y="39136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Audit &amp; Governance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446227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Track material changes, AI-assisted actions, approvals and official decisions.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5833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B"/>
                </a:solidFill>
              </a:rPr>
              <a:t>From stalled projects to completed homes.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Data → Intelligence → Action → Accountability →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38528"/>
            <a:ext cx="685800" cy="685800"/>
          </a:xfrm>
          <a:prstGeom prst="ellipse">
            <a:avLst/>
          </a:prstGeom>
          <a:solidFill>
            <a:srgbClr val="59E66F">
              <a:alpha val="82000"/>
            </a:srgbClr>
          </a:solidFill>
          <a:ln w="25400">
            <a:solidFill>
              <a:srgbClr val="59E6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1305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Capture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Project data and site 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14016" y="2057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677C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916936" y="1938528"/>
            <a:ext cx="685800" cy="685800"/>
          </a:xfrm>
          <a:prstGeom prst="ellipse">
            <a:avLst/>
          </a:prstGeom>
          <a:solidFill>
            <a:srgbClr val="42A5FF">
              <a:alpha val="82000"/>
            </a:srgbClr>
          </a:solidFill>
          <a:ln w="25400">
            <a:solidFill>
              <a:srgbClr val="42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1305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Track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16936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Milestones, spend and physical progress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2584" y="2057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677C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175504" y="1938528"/>
            <a:ext cx="685800" cy="685800"/>
          </a:xfrm>
          <a:prstGeom prst="ellipse">
            <a:avLst/>
          </a:prstGeom>
          <a:solidFill>
            <a:srgbClr val="FF5664">
              <a:alpha val="82000"/>
            </a:srgbClr>
          </a:solidFill>
          <a:ln w="25400">
            <a:solidFill>
              <a:srgbClr val="FF56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1305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Explain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75504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AI detects risk and shows likely causes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31152" y="2057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677C"/>
                </a:solidFill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434072" y="1938528"/>
            <a:ext cx="685800" cy="685800"/>
          </a:xfrm>
          <a:prstGeom prst="ellipse">
            <a:avLst/>
          </a:prstGeom>
          <a:solidFill>
            <a:srgbClr val="59E66F">
              <a:alpha val="82000"/>
            </a:srgbClr>
          </a:solidFill>
          <a:ln w="25400">
            <a:solidFill>
              <a:srgbClr val="59E6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21305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34072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Act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34072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Officials assign interventions and recovery plans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2057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677C"/>
                </a:solidFill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9692640" y="1938528"/>
            <a:ext cx="685800" cy="685800"/>
          </a:xfrm>
          <a:prstGeom prst="ellipse">
            <a:avLst/>
          </a:prstGeom>
          <a:solidFill>
            <a:srgbClr val="42A5FF">
              <a:alpha val="82000"/>
            </a:srgbClr>
          </a:solidFill>
          <a:ln w="25400">
            <a:solidFill>
              <a:srgbClr val="42A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21305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9264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B"/>
                </a:solidFill>
              </a:rPr>
              <a:t>Verify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9264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Leadership monitors outcomes and evidence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" y="4709160"/>
            <a:ext cx="10881360" cy="731520"/>
          </a:xfrm>
          <a:prstGeom prst="roundRect">
            <a:avLst/>
          </a:prstGeom>
          <a:solidFill>
            <a:srgbClr val="121C27"/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96519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Human oversight remains in control; AI supports faster and better decisions.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One platform. Greater delivery impact.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84708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011680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0116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Portfolio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Complete visibility across all projects.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84708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011680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20116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Project Workspace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56032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Manage milestones, work items and comments.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84708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011680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0116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Budget vs Progress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9088" y="256032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Track cost and verified delivery divergence.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34272" y="184708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2011680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0116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Contractor Performance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Monitor quality, speed and delivery trends.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5216" y="37216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886200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38862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Risk Register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443484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Identify, assign and mitigate risk early.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01568" y="37216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3886200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38862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Alerts &amp; Escalation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3484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Surface overdue and high-impact interventions.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37216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3886200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8862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Multilingual Voice 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19088" y="443484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Hands-free queries, navigation and safe actions.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34272" y="37216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3886200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74352" y="38862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35440" y="4434840"/>
            <a:ext cx="2176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Tailored access for executives, teams and auditors.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78240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Web and mobile ready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Microsoft-Aligned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API-first. Secure. Scalable. Integration-ready.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74520"/>
            <a:ext cx="3291840" cy="301752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59E6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9E66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Excel / 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ERP &amp; finance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Project reports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" y="3849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GIS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Mobile site capture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0" y="297180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586A7E"/>
                </a:solidFill>
              </a:rPr>
              <a:t>›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3291840" cy="301752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42A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2A5FF"/>
                </a:solidFill>
              </a:rPr>
              <a:t>HOMEFLOW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Azure OpenAI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Business rules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26864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Risk scoring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6864" y="3849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Workflow engine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6864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Grounded Copilot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54112" y="297180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586A7E"/>
                </a:solidFill>
              </a:rPr>
              <a:t>›</a:t>
            </a:r>
            <a:endParaRPr lang="en-US" sz="2900" dirty="0"/>
          </a:p>
        </p:txBody>
      </p:sp>
      <p:sp>
        <p:nvSpPr>
          <p:cNvPr id="23" name="Shape 21"/>
          <p:cNvSpPr/>
          <p:nvPr/>
        </p:nvSpPr>
        <p:spPr>
          <a:xfrm>
            <a:off x="8119872" y="1874520"/>
            <a:ext cx="3291840" cy="301752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FF56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5664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57616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Dashboards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7616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Projects &amp; recovery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57616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Voice AI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57616" y="3849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Notifications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57616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B"/>
                </a:solidFill>
              </a:rPr>
              <a:t>• Reporting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5138928"/>
            <a:ext cx="10744200" cy="5943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74D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340096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8E8"/>
                </a:solidFill>
              </a:rPr>
              <a:t>Azure App Service / Container Apps   |   Azure SQL / PostgreSQL   |   Blob Storage   |   Entra ID   |   Key Vault   |   Power BI   |   Azure Monitor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and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Turning insight into stronger delivery discipline.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38528"/>
            <a:ext cx="2066544" cy="2514600"/>
          </a:xfrm>
          <a:prstGeom prst="roundRect">
            <a:avLst>
              <a:gd name="adj" fmla="val 3540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103120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Earlier intervention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1664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Identify deteriorating projects before delays compound.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98648" y="1938528"/>
            <a:ext cx="2066544" cy="2514600"/>
          </a:xfrm>
          <a:prstGeom prst="roundRect">
            <a:avLst>
              <a:gd name="adj" fmla="val 3540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103120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Better oversight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99816" y="2651760"/>
            <a:ext cx="1664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Connect portfolio, budget, physical progress and evidence.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75504" y="1938528"/>
            <a:ext cx="2066544" cy="2514600"/>
          </a:xfrm>
          <a:prstGeom prst="roundRect">
            <a:avLst>
              <a:gd name="adj" fmla="val 3540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2103120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5584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Faster blocker resolution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2651760"/>
            <a:ext cx="1664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Give actions clear owners, dates and escalation paths.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1938528"/>
            <a:ext cx="2066544" cy="2514600"/>
          </a:xfrm>
          <a:prstGeom prst="roundRect">
            <a:avLst>
              <a:gd name="adj" fmla="val 3540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6952" y="2103120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Stronger accountability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53528" y="2651760"/>
            <a:ext cx="1664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Preserve an auditable link between evidence, recommendation and decision.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29216" y="1938528"/>
            <a:ext cx="2066544" cy="2514600"/>
          </a:xfrm>
          <a:prstGeom prst="roundRect">
            <a:avLst>
              <a:gd name="adj" fmla="val 3540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93808" y="2103120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9296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Improved housing outcomes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30384" y="2651760"/>
            <a:ext cx="1664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Improve the path from public budget to completed homes.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4892040"/>
            <a:ext cx="10753344" cy="731520"/>
          </a:xfrm>
          <a:prstGeom prst="roundRect">
            <a:avLst/>
          </a:prstGeom>
          <a:solidFill>
            <a:srgbClr val="121C27"/>
          </a:solidFill>
          <a:ln w="12700">
            <a:solidFill>
              <a:srgbClr val="294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20640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HomeFlow AI helps government detect risk earlier, intervene faster, and improve the path from budget to completed homes.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Pilot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2B6"/>
                </a:solidFill>
              </a:rPr>
              <a:t>Start focused, learn quickly, scale on evidence.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005840" cy="0"/>
          </a:xfrm>
          <a:prstGeom prst="line">
            <a:avLst/>
          </a:prstGeom>
          <a:noFill/>
          <a:ln w="38100">
            <a:solidFill>
              <a:srgbClr val="59E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36192"/>
            <a:ext cx="530352" cy="0"/>
          </a:xfrm>
          <a:prstGeom prst="line">
            <a:avLst/>
          </a:prstGeom>
          <a:noFill/>
          <a:ln w="38100">
            <a:solidFill>
              <a:srgbClr val="42A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536192"/>
            <a:ext cx="384048" cy="0"/>
          </a:xfrm>
          <a:prstGeom prst="line">
            <a:avLst/>
          </a:prstGeom>
          <a:noFill/>
          <a:ln w="38100">
            <a:solidFill>
              <a:srgbClr val="FF56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74520"/>
            <a:ext cx="3218688" cy="306324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59E6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9E66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B"/>
                </a:solidFill>
              </a:rPr>
              <a:t>Discover &amp; Configure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Select pilot projects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685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Define data inputs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1239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Configure users and rules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1874520"/>
            <a:ext cx="3218688" cy="306324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42A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2A5FF"/>
                </a:solidFill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1728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B"/>
                </a:solidFill>
              </a:rPr>
              <a:t>Activate &amp; Train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Train officials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3685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Launch site reporting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41239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Run AI in advisory mode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1874520"/>
            <a:ext cx="3218688" cy="3063240"/>
          </a:xfrm>
          <a:prstGeom prst="roundRect">
            <a:avLst/>
          </a:prstGeom>
          <a:solidFill>
            <a:srgbClr val="0E151E"/>
          </a:solidFill>
          <a:ln w="20320">
            <a:solidFill>
              <a:srgbClr val="FF56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5664"/>
                </a:solidFill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5048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B"/>
                </a:solidFill>
              </a:rPr>
              <a:t>Measure &amp; Scale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3246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Review outcomes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3685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Refine workflows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41239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6"/>
                </a:solidFill>
              </a:rPr>
              <a:t>• Prepare scale 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3309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B"/>
                </a:solidFill>
              </a:rPr>
              <a:t>Ideal pilot scope: one province or municipality, 10–20 projects.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F6FB"/>
                </a:solidFill>
              </a:rPr>
              <a:t>PYRNEO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67512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D9E6"/>
                </a:solidFill>
              </a:rPr>
              <a:t>HomeFlow AI by Pyrneo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218688"/>
            <a:ext cx="1005840" cy="0"/>
          </a:xfrm>
          <a:prstGeom prst="line">
            <a:avLst/>
          </a:prstGeom>
          <a:noFill/>
          <a:ln w="50800">
            <a:solidFill>
              <a:srgbClr val="59E6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3218688"/>
            <a:ext cx="548640" cy="0"/>
          </a:xfrm>
          <a:prstGeom prst="line">
            <a:avLst/>
          </a:prstGeom>
          <a:noFill/>
          <a:ln w="50800">
            <a:solidFill>
              <a:srgbClr val="42A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3218688"/>
            <a:ext cx="411480" cy="0"/>
          </a:xfrm>
          <a:prstGeom prst="line">
            <a:avLst/>
          </a:prstGeom>
          <a:noFill/>
          <a:ln w="50800">
            <a:solidFill>
              <a:srgbClr val="FF56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B"/>
                </a:solidFill>
              </a:rPr>
              <a:t>Turning stalled projects into completed homes.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Built for the SITA GovTech SMME Innovation Challenge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29400" y="164592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3992" y="1810512"/>
            <a:ext cx="347472" cy="347472"/>
          </a:xfrm>
          <a:prstGeom prst="ellipse">
            <a:avLst/>
          </a:prstGeom>
          <a:solidFill>
            <a:srgbClr val="59E66F">
              <a:alpha val="85000"/>
            </a:srgbClr>
          </a:solidFill>
          <a:ln w="19050">
            <a:solidFill>
              <a:srgbClr val="59E6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81051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SMARTER SETTLEMENTS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30568" y="2359152"/>
            <a:ext cx="3986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Use delivery intelligence to focus intervention where it matters most.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9400" y="28803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93992" y="3044952"/>
            <a:ext cx="347472" cy="347472"/>
          </a:xfrm>
          <a:prstGeom prst="ellipse">
            <a:avLst/>
          </a:prstGeom>
          <a:solidFill>
            <a:srgbClr val="42A5FF">
              <a:alpha val="85000"/>
            </a:srgbClr>
          </a:solidFill>
          <a:ln w="19050">
            <a:solidFill>
              <a:srgbClr val="42A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04495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STRONGER COMMUNITIES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0568" y="3593592"/>
            <a:ext cx="3986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Connect public investment to visible, accountable delivery outcomes.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411480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0E151E">
              <a:alpha val="97000"/>
            </a:srgbClr>
          </a:solidFill>
          <a:ln w="12700">
            <a:solidFill>
              <a:srgbClr val="253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4279392"/>
            <a:ext cx="347472" cy="347472"/>
          </a:xfrm>
          <a:prstGeom prst="ellipse">
            <a:avLst/>
          </a:prstGeom>
          <a:solidFill>
            <a:srgbClr val="FF5664">
              <a:alpha val="85000"/>
            </a:srgbClr>
          </a:solidFill>
          <a:ln w="19050">
            <a:solidFill>
              <a:srgbClr val="FF56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427939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B"/>
                </a:solidFill>
              </a:rPr>
              <a:t>RESPONSIBLE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30568" y="4828032"/>
            <a:ext cx="3986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3A2B6"/>
                </a:solidFill>
              </a:rPr>
              <a:t>Keep accountable officials in control of consequential decisions.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6080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6"/>
                </a:solidFill>
              </a:rPr>
              <a:t>pyrneo.com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Pyrneo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HomeFlow AI by Pyrneo</dc:title>
  <dc:subject>HomeFlow AI — SITA GovTech SMME Innovation Challenge 2026</dc:subject>
  <dc:creator>Pyrneo</dc:creator>
  <cp:lastModifiedBy>Pyrneo</cp:lastModifiedBy>
  <cp:revision>1</cp:revision>
  <dcterms:created xsi:type="dcterms:W3CDTF">2026-09-13T11:55:19Z</dcterms:created>
  <dcterms:modified xsi:type="dcterms:W3CDTF">2026-09-13T11:55:19Z</dcterms:modified>
</cp:coreProperties>
</file>